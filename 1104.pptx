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71" autoAdjust="0"/>
    <p:restoredTop sz="94660"/>
  </p:normalViewPr>
  <p:slideViewPr>
    <p:cSldViewPr snapToGrid="0">
      <p:cViewPr varScale="1">
        <p:scale>
          <a:sx n="75" d="100"/>
          <a:sy n="75" d="100"/>
        </p:scale>
        <p:origin x="96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2B7DB6-14B8-4D0F-ACAC-59F4D807A8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1046DA0-AA23-482C-A027-FAC2421F91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BB61A6-4132-44F7-9E11-1A1C26AB6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F4EF3-D0BE-42C6-BEEE-F1355F6948D8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C8AFB3-A898-4784-BAEB-4FE8B8271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64B1EE-199E-42DA-9B87-D62A675B6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34C48-4F20-4D31-86AA-8671AABEB3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254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7DEC7D-C26D-4838-819D-1429BE088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6F880C-1F04-4AF5-97FA-987763EFC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17F10C-BCA2-4106-BE93-4089C8B89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F4EF3-D0BE-42C6-BEEE-F1355F6948D8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41A81E-B5CF-49D2-978F-8C4A6CB78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0ABC81-0EEF-41C8-ABCC-9648DAB4E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34C48-4F20-4D31-86AA-8671AABEB3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7519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0EA036-5E92-4092-9E60-FBD5A8083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88B34B-6A2B-4CAB-AE09-A76A95FC8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22F3C5-65E1-4216-A3A8-EF26353E8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F4EF3-D0BE-42C6-BEEE-F1355F6948D8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120E75-7451-4115-BAE9-132701103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126032-C6B1-4E77-9E57-F58ADE6D1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34C48-4F20-4D31-86AA-8671AABEB3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5940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90940A-E497-413C-89DC-6DF64A504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CB6492-AD2B-422C-B28E-CA73D317D7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505EA7-9896-4D7B-B0BF-011283A2D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B28855-D5D3-4E4A-AADB-C4699EADE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F4EF3-D0BE-42C6-BEEE-F1355F6948D8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AFB3E2-9401-4F4B-BEF3-EA507EBC4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32B180-507E-4C53-9645-5D29B6263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34C48-4F20-4D31-86AA-8671AABEB3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4289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1A99ED-73E3-4F2E-9F04-958BD10D3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A585EB-8CC5-412E-81A2-742C3FFFF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170EAB0-30E5-4C7B-A38D-9E55A8439E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96508D8-0A89-48BB-B7EC-8063C94C95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D197096-3AC4-4D0D-8215-4578462923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B9C6108-ECE1-439A-9B28-B285FD30B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F4EF3-D0BE-42C6-BEEE-F1355F6948D8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61DEBEF-8F3B-450A-B1BE-8AF025A24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CF5A281-F53F-455E-9B54-655C3AF92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34C48-4F20-4D31-86AA-8671AABEB3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6036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0EC5E8-5012-4653-BF00-05CDCDD67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CDE4285-564D-470F-A155-08ECA3F72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F4EF3-D0BE-42C6-BEEE-F1355F6948D8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BFA329F-30D2-4DCB-974B-6BD1D4500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03EB5FE-4752-4713-9049-8D5C0E504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34C48-4F20-4D31-86AA-8671AABEB3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06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9CC8F19-5D16-4860-A384-7A42A296C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F4EF3-D0BE-42C6-BEEE-F1355F6948D8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DAF301B-6E1E-4BAC-975B-F7F567035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38D74D-6822-4BD6-B80F-7783DE713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34C48-4F20-4D31-86AA-8671AABEB3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8688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5FB045-132A-42CA-97FD-5204597B7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7F0BE2-70FF-43D6-A420-6CE7AFAA8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2168E0-E523-4BE4-9FEA-BB2B01E2A8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E5275B-9AC1-4C08-9FA1-B28575EFB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F4EF3-D0BE-42C6-BEEE-F1355F6948D8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844584-0D51-4492-B22D-B23927803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9BE3B6-0EFA-43B7-82B7-9EA5A8429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34C48-4F20-4D31-86AA-8671AABEB3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716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44609F-333F-4BEB-B567-BFD71FF00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8706204-0CF5-4BE6-9957-D1A414BFEF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9B2198-9999-4441-905F-B5B4F52A75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8C0F87-AC37-4BCC-BF0C-D0AA05F4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F4EF3-D0BE-42C6-BEEE-F1355F6948D8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4E658D-5CC9-4392-8368-1FF5AE883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C73DAF-DF27-4246-B95C-EC3F8C086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34C48-4F20-4D31-86AA-8671AABEB3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6586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6A4A8E-F2F7-41BC-B317-422D97725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0434344-0736-4B9A-8C0F-201C711305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D4309A-6A48-4B0E-9251-68A9DA74D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F4EF3-D0BE-42C6-BEEE-F1355F6948D8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1609DB-A7C7-45D6-B111-3A8530158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4B69CC-DE5D-462B-9A1C-7CCC9FA8D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34C48-4F20-4D31-86AA-8671AABEB3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1144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E4EEF00-945B-45A7-A76C-1ED63669C4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C14230-EF22-45C3-9FA6-AD8D50BBE7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136BBB-DD56-443F-9B55-BEFF0AA06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F4EF3-D0BE-42C6-BEEE-F1355F6948D8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0DC410-4FA0-4981-9123-D97196CC3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AA0248-8879-4B01-AA74-FE5E318A4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34C48-4F20-4D31-86AA-8671AABEB3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9878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6BAD016-F76B-4696-9BD8-7B18296B1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28D82E-A238-4E24-B94C-AA7F68C5A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6FA723-8CD7-4484-907E-9DFD048FC2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F4EF3-D0BE-42C6-BEEE-F1355F6948D8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4C838B-65A0-48E0-B03D-C26526C09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A3416B-D321-4564-A40E-91E7FF1511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B34C48-4F20-4D31-86AA-8671AABEB3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552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FA4FE8-BDFF-41BD-8E5C-43DEA9CD62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1104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75269F6-9B44-4E83-A245-158F188833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4021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1C7CA8-39B7-4C09-A971-F69BCD214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동시 작업 흐름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527788-E14B-46E5-A98D-B69202999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스레드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한 프로그램 내부에 다수의 흐름을 만들고 제어하는 기법</a:t>
            </a:r>
            <a:endParaRPr lang="en-US" altLang="ko-KR" dirty="0"/>
          </a:p>
          <a:p>
            <a:pPr lvl="3"/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멀티 프로그래밍</a:t>
            </a:r>
            <a:r>
              <a:rPr lang="en-US" altLang="ko-KR" dirty="0"/>
              <a:t>(</a:t>
            </a:r>
            <a:r>
              <a:rPr lang="ko-KR" altLang="en-US" dirty="0"/>
              <a:t>실제로 구현 불가</a:t>
            </a:r>
            <a:r>
              <a:rPr lang="en-US" altLang="ko-KR" dirty="0"/>
              <a:t>) Vs. </a:t>
            </a:r>
            <a:r>
              <a:rPr lang="ko-KR" altLang="en-US" b="1" dirty="0"/>
              <a:t>멀티 </a:t>
            </a:r>
            <a:r>
              <a:rPr lang="ko-KR" altLang="en-US" b="1" dirty="0" err="1"/>
              <a:t>태스킹</a:t>
            </a:r>
            <a:endParaRPr lang="en-US" altLang="ko-KR" b="1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기술적인 뒷받침 </a:t>
            </a:r>
            <a:r>
              <a:rPr lang="en-US" altLang="ko-KR" dirty="0"/>
              <a:t>: </a:t>
            </a:r>
            <a:r>
              <a:rPr lang="ko-KR" altLang="en-US" dirty="0"/>
              <a:t>시분할 시스템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스케줄러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부가적인 처리 기술 </a:t>
            </a:r>
            <a:r>
              <a:rPr lang="en-US" altLang="ko-KR" dirty="0">
                <a:sym typeface="Wingdings" panose="05000000000000000000" pitchFamily="2" charset="2"/>
              </a:rPr>
              <a:t>: Context Switching(</a:t>
            </a:r>
            <a:r>
              <a:rPr lang="ko-KR" altLang="en-US" dirty="0">
                <a:sym typeface="Wingdings" panose="05000000000000000000" pitchFamily="2" charset="2"/>
              </a:rPr>
              <a:t>문맥 교환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기준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프로세스 기준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동기화 문제 발생</a:t>
            </a:r>
            <a:r>
              <a:rPr lang="en-US" altLang="ko-KR" dirty="0">
                <a:sym typeface="Wingdings" panose="05000000000000000000" pitchFamily="2" charset="2"/>
              </a:rPr>
              <a:t>!!!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공유 자원으로 인한 문제점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1217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96D301-038C-4D90-BC82-ABD979A92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동기화 문제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2C321D-B80C-4667-904A-AF51558BA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공유 자원</a:t>
            </a:r>
            <a:endParaRPr lang="en-US" altLang="ko-KR" dirty="0"/>
          </a:p>
          <a:p>
            <a:pPr lvl="1"/>
            <a:r>
              <a:rPr lang="en-US" altLang="ko-KR" dirty="0"/>
              <a:t> H/W</a:t>
            </a:r>
            <a:r>
              <a:rPr lang="ko-KR" altLang="en-US" dirty="0"/>
              <a:t>와 </a:t>
            </a:r>
            <a:r>
              <a:rPr lang="en-US" altLang="ko-KR" dirty="0"/>
              <a:t>S/W</a:t>
            </a:r>
            <a:r>
              <a:rPr lang="ko-KR" altLang="en-US" dirty="0"/>
              <a:t>를 포함한 컴퓨터를 구성하는 모든 것들</a:t>
            </a:r>
            <a:r>
              <a:rPr lang="en-US" altLang="ko-KR" dirty="0"/>
              <a:t>!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프로세스나 스레드가 동시에 접근할 때 발생하는 문제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최초로 인식한 문제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은행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공유 자원으로 인한 문제가 발생할 수 있는 코드 영역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임계 영역</a:t>
            </a:r>
            <a:r>
              <a:rPr lang="en-US" altLang="ko-KR" dirty="0"/>
              <a:t>(critical section)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문제가 될 수 있는 코드 영역에 여러 프로세스가 접근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경쟁 상태</a:t>
            </a:r>
            <a:r>
              <a:rPr lang="en-US" altLang="ko-KR" dirty="0"/>
              <a:t>(race condition)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9041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0A7A45-864C-4FF3-8E30-103F5B30E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동기화 문제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70A0DB-FB2E-4F71-8B93-2A1F6FAB1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문제 해결</a:t>
            </a:r>
            <a:endParaRPr lang="en-US" altLang="ko-KR" dirty="0"/>
          </a:p>
          <a:p>
            <a:pPr lvl="1"/>
            <a:r>
              <a:rPr lang="en-US" altLang="ko-KR" dirty="0"/>
              <a:t> SW </a:t>
            </a:r>
            <a:r>
              <a:rPr lang="ko-KR" altLang="en-US" dirty="0"/>
              <a:t>적인 해결 </a:t>
            </a:r>
            <a:r>
              <a:rPr lang="en-US" altLang="ko-KR" dirty="0"/>
              <a:t>: </a:t>
            </a:r>
            <a:r>
              <a:rPr lang="ko-KR" altLang="en-US" dirty="0"/>
              <a:t>알고리즘으로 해결하자</a:t>
            </a:r>
            <a:r>
              <a:rPr lang="en-US" altLang="ko-KR" dirty="0"/>
              <a:t>!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 err="1">
                <a:sym typeface="Wingdings" panose="05000000000000000000" pitchFamily="2" charset="2"/>
              </a:rPr>
              <a:t>데커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 HW </a:t>
            </a:r>
            <a:r>
              <a:rPr lang="ko-KR" altLang="en-US" dirty="0">
                <a:sym typeface="Wingdings" panose="05000000000000000000" pitchFamily="2" charset="2"/>
              </a:rPr>
              <a:t>적인 해결 </a:t>
            </a:r>
            <a:r>
              <a:rPr lang="en-US" altLang="ko-KR" dirty="0">
                <a:sym typeface="Wingdings" panose="05000000000000000000" pitchFamily="2" charset="2"/>
              </a:rPr>
              <a:t>: Test &amp; Set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 OS</a:t>
            </a:r>
            <a:r>
              <a:rPr lang="ko-KR" altLang="en-US" dirty="0">
                <a:sym typeface="Wingdings" panose="05000000000000000000" pitchFamily="2" charset="2"/>
              </a:rPr>
              <a:t>로 해결 </a:t>
            </a:r>
            <a:r>
              <a:rPr lang="en-US" altLang="ko-KR" dirty="0">
                <a:sym typeface="Wingdings" panose="05000000000000000000" pitchFamily="2" charset="2"/>
              </a:rPr>
              <a:t>: P( ), V( ) </a:t>
            </a:r>
            <a:r>
              <a:rPr lang="ko-KR" altLang="en-US" dirty="0">
                <a:sym typeface="Wingdings" panose="05000000000000000000" pitchFamily="2" charset="2"/>
              </a:rPr>
              <a:t>개념적인 함수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9020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179D5A-F3AC-4AE4-AC35-D5A175242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OS</a:t>
            </a:r>
            <a:r>
              <a:rPr lang="ko-KR" altLang="en-US" dirty="0"/>
              <a:t>에 의한 해결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A26A52-92EC-4DC0-AA74-C35246823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P( ), V( ) </a:t>
            </a:r>
            <a:r>
              <a:rPr lang="ko-KR" altLang="en-US" dirty="0"/>
              <a:t>오퍼레이션 </a:t>
            </a:r>
            <a:r>
              <a:rPr lang="en-US" altLang="ko-KR" dirty="0">
                <a:sym typeface="Wingdings" panose="05000000000000000000" pitchFamily="2" charset="2"/>
              </a:rPr>
              <a:t> Semaphore : </a:t>
            </a:r>
            <a:r>
              <a:rPr lang="ko-KR" altLang="en-US" dirty="0">
                <a:sym typeface="Wingdings" panose="05000000000000000000" pitchFamily="2" charset="2"/>
              </a:rPr>
              <a:t>논리적인 개념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해결 방법들의 궁극적인 목표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상호 배제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 SW </a:t>
            </a:r>
            <a:r>
              <a:rPr lang="ko-KR" altLang="en-US" dirty="0">
                <a:sym typeface="Wingdings" panose="05000000000000000000" pitchFamily="2" charset="2"/>
              </a:rPr>
              <a:t>적인 해결 방법으로는 한계가 존재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문맥 교환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 HW </a:t>
            </a:r>
            <a:r>
              <a:rPr lang="ko-KR" altLang="en-US" dirty="0">
                <a:sym typeface="Wingdings" panose="05000000000000000000" pitchFamily="2" charset="2"/>
              </a:rPr>
              <a:t>적인 해결 방법은 존재하지 않음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결론적으로 </a:t>
            </a:r>
            <a:r>
              <a:rPr lang="en-US" altLang="ko-KR" dirty="0">
                <a:sym typeface="Wingdings" panose="05000000000000000000" pitchFamily="2" charset="2"/>
              </a:rPr>
              <a:t>OS</a:t>
            </a:r>
            <a:r>
              <a:rPr lang="ko-KR" altLang="en-US" dirty="0">
                <a:sym typeface="Wingdings" panose="05000000000000000000" pitchFamily="2" charset="2"/>
              </a:rPr>
              <a:t>가 해결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윈도우에서는 </a:t>
            </a:r>
            <a:r>
              <a:rPr lang="en-US" altLang="ko-KR" dirty="0">
                <a:sym typeface="Wingdings" panose="05000000000000000000" pitchFamily="2" charset="2"/>
              </a:rPr>
              <a:t>3</a:t>
            </a:r>
            <a:r>
              <a:rPr lang="ko-KR" altLang="en-US" dirty="0">
                <a:sym typeface="Wingdings" panose="05000000000000000000" pitchFamily="2" charset="2"/>
              </a:rPr>
              <a:t>가지 동기화 문제 해결 방법을 제공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	1. Critical Section</a:t>
            </a:r>
          </a:p>
          <a:p>
            <a:pPr marL="457200" lvl="1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	2. Semaphore</a:t>
            </a:r>
          </a:p>
          <a:p>
            <a:pPr marL="457200" lvl="1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	3. Mutex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4023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1C7E17-7421-46D1-996C-873971263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Critical Section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5E1A96-9C51-4C06-B563-71A8577A4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2675"/>
          </a:xfrm>
        </p:spPr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윈도우에서 동기화를 제어하는 방법론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자료형 </a:t>
            </a:r>
            <a:r>
              <a:rPr lang="en-US" altLang="ko-KR" dirty="0"/>
              <a:t>: CRITICAL_SECTION</a:t>
            </a:r>
          </a:p>
          <a:p>
            <a:r>
              <a:rPr lang="en-US" altLang="ko-KR" dirty="0"/>
              <a:t> API</a:t>
            </a:r>
            <a:r>
              <a:rPr lang="ko-KR" altLang="en-US" dirty="0"/>
              <a:t>는 </a:t>
            </a:r>
            <a:r>
              <a:rPr lang="en-US" altLang="ko-KR" dirty="0"/>
              <a:t>4</a:t>
            </a:r>
            <a:r>
              <a:rPr lang="ko-KR" altLang="en-US" dirty="0"/>
              <a:t>개가 존재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InitializeCriticalSection</a:t>
            </a:r>
            <a:r>
              <a:rPr lang="en-US" altLang="ko-KR" dirty="0"/>
              <a:t>( ) - </a:t>
            </a:r>
            <a:r>
              <a:rPr lang="ko-KR" altLang="en-US" dirty="0"/>
              <a:t>자료형 초기화 및 설정</a:t>
            </a:r>
            <a:endParaRPr lang="en-US" altLang="ko-KR" dirty="0"/>
          </a:p>
          <a:p>
            <a:pPr lvl="2"/>
            <a:r>
              <a:rPr lang="en-US" altLang="ko-KR" dirty="0"/>
              <a:t> </a:t>
            </a:r>
            <a:r>
              <a:rPr lang="ko-KR" altLang="en-US" dirty="0"/>
              <a:t>초기화된 객체는 더 이상 사용하지 </a:t>
            </a:r>
            <a:r>
              <a:rPr lang="ko-KR" altLang="en-US" dirty="0" err="1"/>
              <a:t>않을때까지</a:t>
            </a:r>
            <a:r>
              <a:rPr lang="ko-KR" altLang="en-US" dirty="0"/>
              <a:t> 유지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EnterCriticalSection</a:t>
            </a:r>
            <a:r>
              <a:rPr lang="en-US" altLang="ko-KR" dirty="0"/>
              <a:t>( ) – </a:t>
            </a:r>
            <a:r>
              <a:rPr lang="ko-KR" altLang="en-US" dirty="0"/>
              <a:t>임계 영역에서 대기</a:t>
            </a:r>
            <a:endParaRPr lang="en-US" altLang="ko-KR" dirty="0"/>
          </a:p>
          <a:p>
            <a:pPr lvl="2"/>
            <a:r>
              <a:rPr lang="en-US" altLang="ko-KR" dirty="0"/>
              <a:t> </a:t>
            </a:r>
            <a:r>
              <a:rPr lang="ko-KR" altLang="en-US" dirty="0"/>
              <a:t>공유 자원에 대해 한 없이 접근 및 사용이 가능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LeaveCriticalSection</a:t>
            </a:r>
            <a:r>
              <a:rPr lang="en-US" altLang="ko-KR" dirty="0"/>
              <a:t>( ) – </a:t>
            </a:r>
            <a:r>
              <a:rPr lang="ko-KR" altLang="en-US" dirty="0"/>
              <a:t>임계 영역의 해제</a:t>
            </a:r>
            <a:endParaRPr lang="en-US" altLang="ko-KR" dirty="0"/>
          </a:p>
          <a:p>
            <a:pPr lvl="2"/>
            <a:r>
              <a:rPr lang="en-US" altLang="ko-KR" dirty="0"/>
              <a:t> </a:t>
            </a:r>
            <a:r>
              <a:rPr lang="ko-KR" altLang="en-US" dirty="0"/>
              <a:t>공유 자원을 다른 스레드나 흐름이 사용할 수 있도록 </a:t>
            </a:r>
            <a:r>
              <a:rPr lang="ko-KR" altLang="en-US" dirty="0" err="1"/>
              <a:t>제어권</a:t>
            </a:r>
            <a:r>
              <a:rPr lang="ko-KR" altLang="en-US" dirty="0"/>
              <a:t> 해제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DeleteCriticalSection</a:t>
            </a:r>
            <a:r>
              <a:rPr lang="en-US" altLang="ko-KR" dirty="0"/>
              <a:t>( ) - </a:t>
            </a:r>
            <a:r>
              <a:rPr lang="ko-KR" altLang="en-US" dirty="0"/>
              <a:t>자료형 해제</a:t>
            </a:r>
            <a:endParaRPr lang="en-US" altLang="ko-KR" dirty="0"/>
          </a:p>
          <a:p>
            <a:pPr lvl="2"/>
            <a:r>
              <a:rPr lang="en-US" altLang="ko-KR" dirty="0"/>
              <a:t> </a:t>
            </a:r>
            <a:r>
              <a:rPr lang="ko-KR" altLang="en-US" dirty="0"/>
              <a:t>객체가 </a:t>
            </a:r>
            <a:r>
              <a:rPr lang="en-US" altLang="ko-KR" dirty="0"/>
              <a:t>OS </a:t>
            </a:r>
            <a:r>
              <a:rPr lang="ko-KR" altLang="en-US" dirty="0"/>
              <a:t>내부에서 완전히 제거</a:t>
            </a:r>
          </a:p>
        </p:txBody>
      </p:sp>
    </p:spTree>
    <p:extLst>
      <p:ext uri="{BB962C8B-B14F-4D97-AF65-F5344CB8AC3E}">
        <p14:creationId xmlns:p14="http://schemas.microsoft.com/office/powerpoint/2010/main" val="1912943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320</Words>
  <Application>Microsoft Office PowerPoint</Application>
  <PresentationFormat>와이드스크린</PresentationFormat>
  <Paragraphs>49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1104</vt:lpstr>
      <vt:lpstr>동시 작업 흐름</vt:lpstr>
      <vt:lpstr>동기화 문제</vt:lpstr>
      <vt:lpstr>동기화 문제</vt:lpstr>
      <vt:lpstr>OS에 의한 해결</vt:lpstr>
      <vt:lpstr>Critical Section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1104</dc:title>
  <dc:creator>YUHAN</dc:creator>
  <cp:lastModifiedBy>YUHAN</cp:lastModifiedBy>
  <cp:revision>7</cp:revision>
  <dcterms:created xsi:type="dcterms:W3CDTF">2025-11-04T04:08:53Z</dcterms:created>
  <dcterms:modified xsi:type="dcterms:W3CDTF">2025-11-04T06:44:31Z</dcterms:modified>
</cp:coreProperties>
</file>